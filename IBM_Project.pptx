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6" r:id="rId5"/>
    <p:sldId id="2146847054" r:id="rId6"/>
    <p:sldId id="262" r:id="rId7"/>
    <p:sldId id="263" r:id="rId8"/>
    <p:sldId id="265" r:id="rId9"/>
    <p:sldId id="266" r:id="rId10"/>
    <p:sldId id="267" r:id="rId11"/>
    <p:sldId id="2146847057" r:id="rId12"/>
    <p:sldId id="2146847058" r:id="rId13"/>
    <p:sldId id="2146847059" r:id="rId14"/>
    <p:sldId id="2146847060" r:id="rId15"/>
    <p:sldId id="2146847061" r:id="rId16"/>
    <p:sldId id="268" r:id="rId17"/>
    <p:sldId id="2146847055" r:id="rId18"/>
    <p:sldId id="2146847062" r:id="rId19"/>
    <p:sldId id="2146847063"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2" d="100"/>
          <a:sy n="72" d="100"/>
        </p:scale>
        <p:origin x="1075" y="4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E254F1-4415-47BF-9E91-C5D4B9A33350}" type="slidenum">
              <a:rPr lang="en-IN" smtClean="0"/>
              <a:t>15</a:t>
            </a:fld>
            <a:endParaRPr lang="en-IN"/>
          </a:p>
        </p:txBody>
      </p:sp>
    </p:spTree>
    <p:extLst>
      <p:ext uri="{BB962C8B-B14F-4D97-AF65-F5344CB8AC3E}">
        <p14:creationId xmlns:p14="http://schemas.microsoft.com/office/powerpoint/2010/main" val="355334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dirty="0"/>
              <a:t>Predicting Eligibility for Social Welfare Schemes using Machine Learning</a:t>
            </a:r>
            <a:endParaRPr lang="en-US" b="1" dirty="0">
              <a:solidFill>
                <a:schemeClr val="accent1"/>
              </a:solidFill>
              <a:latin typeface="Arial"/>
              <a:cs typeface="Arial"/>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a:cs typeface="Arial"/>
              </a:rPr>
              <a:t>Name- Shubham Srivastava</a:t>
            </a:r>
          </a:p>
          <a:p>
            <a:r>
              <a:rPr lang="en-US" sz="2000" b="1" dirty="0">
                <a:solidFill>
                  <a:schemeClr val="accent1">
                    <a:lumMod val="75000"/>
                  </a:schemeClr>
                </a:solidFill>
                <a:latin typeface="Arial"/>
                <a:cs typeface="Arial"/>
              </a:rPr>
              <a:t>Faculty Name- Aman Srivastava </a:t>
            </a:r>
          </a:p>
          <a:p>
            <a:r>
              <a:rPr lang="en-US" sz="2000" b="1" dirty="0">
                <a:solidFill>
                  <a:schemeClr val="accent1">
                    <a:lumMod val="75000"/>
                  </a:schemeClr>
                </a:solidFill>
                <a:latin typeface="Arial"/>
                <a:cs typeface="Arial"/>
              </a:rPr>
              <a:t>College Name-Haridwar University, </a:t>
            </a:r>
          </a:p>
          <a:p>
            <a:r>
              <a:rPr lang="en-US" sz="2000" b="1" dirty="0">
                <a:solidFill>
                  <a:schemeClr val="accent1">
                    <a:lumMod val="75000"/>
                  </a:schemeClr>
                </a:solidFill>
                <a:latin typeface="Arial"/>
                <a:cs typeface="Arial"/>
              </a:rPr>
              <a:t>Department-CSE (Data Science)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r>
              <a:rPr lang="en-US" sz="1800" dirty="0">
                <a:latin typeface="Arial" panose="020B0604020202020204" pitchFamily="34" charset="0"/>
                <a:cs typeface="Arial" panose="020B0604020202020204" pitchFamily="34" charset="0"/>
              </a:rPr>
              <a:t>The National Social Assistance Programme (NSAP) is a major social welfare initiative by the Government of India that provides financial assistance to elderly persons, widows, and persons with disabilities belonging to Below Poverty Line (BPL) households.</a:t>
            </a:r>
          </a:p>
          <a:p>
            <a:r>
              <a:rPr lang="en-US" sz="1800" dirty="0">
                <a:latin typeface="Arial" panose="020B0604020202020204" pitchFamily="34" charset="0"/>
                <a:cs typeface="Arial" panose="020B0604020202020204" pitchFamily="34" charset="0"/>
              </a:rPr>
              <a:t>NSAP consists of multiple sub-schemes such as old-age pension, widow pension, and disability pension, each having different eligibility criteria based on age, gender, marital status, disability status, income level, and other socio-economic factors.</a:t>
            </a:r>
          </a:p>
          <a:p>
            <a:r>
              <a:rPr lang="en-US" sz="1800" dirty="0">
                <a:latin typeface="Arial" panose="020B0604020202020204" pitchFamily="34" charset="0"/>
                <a:cs typeface="Arial" panose="020B0604020202020204" pitchFamily="34" charset="0"/>
              </a:rPr>
              <a:t>Currently, the process of verifying applications and assigning the correct welfare scheme is largely manual. This manual process is time-consuming, prone to human errors, and may lead to delays or incorrect allocation of benefits. Such issues can prevent deserving beneficiaries from receiving timely financial assistance.</a:t>
            </a:r>
          </a:p>
          <a:p>
            <a:r>
              <a:rPr lang="en-US" sz="1800" dirty="0">
                <a:latin typeface="Arial" panose="020B0604020202020204" pitchFamily="34" charset="0"/>
                <a:cs typeface="Arial" panose="020B0604020202020204" pitchFamily="34" charset="0"/>
              </a:rPr>
              <a:t>Therefore, there is a need for an automated system that can accurately predict the most appropriate NSAP scheme for an applicant using demographic and socio-economic data.</a:t>
            </a:r>
          </a:p>
          <a:p>
            <a:pPr marL="0" indent="0">
              <a:buNone/>
            </a:pP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232452"/>
            <a:ext cx="11613485" cy="5418899"/>
          </a:xfrm>
        </p:spPr>
        <p:txBody>
          <a:bodyPr vert="horz" lIns="91440" tIns="45720" rIns="91440" bIns="45720" rtlCol="0" anchor="ctr">
            <a:noAutofit/>
          </a:bodyPr>
          <a:lstStyle/>
          <a:p>
            <a:pPr marL="0" indent="0">
              <a:buNone/>
            </a:pPr>
            <a:r>
              <a:rPr lang="en-US" sz="1800" dirty="0">
                <a:latin typeface="Arial" panose="020B0604020202020204" pitchFamily="34" charset="0"/>
                <a:cs typeface="Arial" panose="020B0604020202020204" pitchFamily="34" charset="0"/>
              </a:rPr>
              <a:t>The proposed system aims to automate the eligibility prediction process for NSAP schemes using machine learning techniques. The system will analyze applicant data such as age, gender, marital status, disability status, income category, and district-level information to predict the most suitable NSAP scheme.</a:t>
            </a:r>
          </a:p>
          <a:p>
            <a:pPr marL="0" indent="0">
              <a:buNone/>
            </a:pPr>
            <a:r>
              <a:rPr lang="en-US" sz="1800" b="1" dirty="0">
                <a:latin typeface="Arial" panose="020B0604020202020204" pitchFamily="34" charset="0"/>
                <a:cs typeface="Arial" panose="020B0604020202020204" pitchFamily="34" charset="0"/>
              </a:rPr>
              <a:t>Key Highlights</a:t>
            </a:r>
          </a:p>
          <a:p>
            <a:r>
              <a:rPr lang="en-US" sz="1800" dirty="0">
                <a:latin typeface="Arial" panose="020B0604020202020204" pitchFamily="34" charset="0"/>
                <a:cs typeface="Arial" panose="020B0604020202020204" pitchFamily="34" charset="0"/>
              </a:rPr>
              <a:t>Machine learning–based </a:t>
            </a:r>
            <a:r>
              <a:rPr lang="en-US" sz="1800" b="1" dirty="0">
                <a:latin typeface="Arial" panose="020B0604020202020204" pitchFamily="34" charset="0"/>
                <a:cs typeface="Arial" panose="020B0604020202020204" pitchFamily="34" charset="0"/>
              </a:rPr>
              <a:t>multi-class classification</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Fully deployed on </a:t>
            </a:r>
            <a:r>
              <a:rPr lang="en-US" sz="1800" b="1" dirty="0">
                <a:latin typeface="Arial" panose="020B0604020202020204" pitchFamily="34" charset="0"/>
                <a:cs typeface="Arial" panose="020B0604020202020204" pitchFamily="34" charset="0"/>
              </a:rPr>
              <a:t>IBM Cloud Lite Services</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Secure, scalable, and reliable cloud architecture</a:t>
            </a:r>
          </a:p>
          <a:p>
            <a:r>
              <a:rPr lang="en-US" sz="1800" dirty="0">
                <a:latin typeface="Arial" panose="020B0604020202020204" pitchFamily="34" charset="0"/>
                <a:cs typeface="Arial" panose="020B0604020202020204" pitchFamily="34" charset="0"/>
              </a:rPr>
              <a:t>Real-time prediction support for large-scale applicants</a:t>
            </a:r>
          </a:p>
          <a:p>
            <a:r>
              <a:rPr lang="en-US" sz="1800" dirty="0">
                <a:latin typeface="Arial" panose="020B0604020202020204" pitchFamily="34" charset="0"/>
                <a:cs typeface="Arial" panose="020B0604020202020204" pitchFamily="34" charset="0"/>
              </a:rPr>
              <a:t>The system uses applicant demographic and socio-economic data to predict the most appropriate NSAP scheme with high accuracy, ensuring </a:t>
            </a:r>
            <a:r>
              <a:rPr lang="en-US" sz="1800" b="1" dirty="0">
                <a:latin typeface="Arial" panose="020B0604020202020204" pitchFamily="34" charset="0"/>
                <a:cs typeface="Arial" panose="020B0604020202020204" pitchFamily="34" charset="0"/>
              </a:rPr>
              <a:t>fair, fast, and transparent welfare delivery</a:t>
            </a:r>
            <a:r>
              <a:rPr lang="en-US" sz="1800" dirty="0">
                <a:latin typeface="Arial" panose="020B0604020202020204" pitchFamily="34" charset="0"/>
                <a:cs typeface="Arial" panose="020B0604020202020204" pitchFamily="34" charset="0"/>
              </a:rPr>
              <a:t>.</a:t>
            </a:r>
          </a:p>
          <a:p>
            <a:pPr marL="0" indent="0">
              <a:buNone/>
            </a:pPr>
            <a:r>
              <a:rPr lang="en-US" sz="1800" dirty="0">
                <a:latin typeface="Arial" panose="020B0604020202020204" pitchFamily="34" charset="0"/>
                <a:cs typeface="Arial" panose="020B0604020202020204" pitchFamily="34" charset="0"/>
              </a:rPr>
              <a:t>This system will help reduce delays, minimize human errors, and ensure fair and efficient distribution of social welfare benefits.</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4" name="Rectangle 2">
            <a:extLst>
              <a:ext uri="{FF2B5EF4-FFF2-40B4-BE49-F238E27FC236}">
                <a16:creationId xmlns:a16="http://schemas.microsoft.com/office/drawing/2014/main" id="{92075120-E20C-128E-8314-3B80C3C06D9D}"/>
              </a:ext>
            </a:extLst>
          </p:cNvPr>
          <p:cNvSpPr>
            <a:spLocks noGrp="1" noChangeArrowheads="1"/>
          </p:cNvSpPr>
          <p:nvPr>
            <p:ph idx="1"/>
          </p:nvPr>
        </p:nvSpPr>
        <p:spPr bwMode="auto">
          <a:xfrm>
            <a:off x="581192" y="1177574"/>
            <a:ext cx="1161080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Data Ingestion</a:t>
            </a:r>
            <a:endParaRPr lang="en-US" altLang="en-US" sz="1800" dirty="0">
              <a:solidFill>
                <a:schemeClr val="tx1"/>
              </a:solidFill>
              <a:latin typeface="Arial" panose="020B0604020202020204" pitchFamily="34" charset="0"/>
            </a:endParaRPr>
          </a:p>
          <a:p>
            <a:pPr marL="594000" lvl="2" indent="0" defTabSz="914400" eaLnBrk="0" fontAlgn="base" hangingPunct="0">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Arial" panose="020B0604020202020204" pitchFamily="34" charset="0"/>
              </a:rPr>
              <a:t>NSAP dataset uploaded to </a:t>
            </a:r>
            <a:r>
              <a:rPr kumimoji="0" lang="en-US" altLang="en-US" sz="1800" b="1" i="0" u="none" strike="noStrike" cap="none" normalizeH="0" baseline="0" dirty="0">
                <a:ln>
                  <a:noFill/>
                </a:ln>
                <a:solidFill>
                  <a:schemeClr val="tx1"/>
                </a:solidFill>
                <a:effectLst/>
                <a:latin typeface="Arial" panose="020B0604020202020204" pitchFamily="34" charset="0"/>
              </a:rPr>
              <a:t>IBM Cloud Object Storage</a:t>
            </a:r>
          </a:p>
          <a:p>
            <a:pPr marL="594000" lvl="2" indent="0" defTabSz="914400" eaLnBrk="0" fontAlgn="base" hangingPunct="0">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2. </a:t>
            </a:r>
            <a:r>
              <a:rPr kumimoji="0" lang="en-US" altLang="en-US" sz="1800" b="1" i="0" u="none" strike="noStrike" cap="none" normalizeH="0" baseline="0" dirty="0">
                <a:ln>
                  <a:noFill/>
                </a:ln>
                <a:solidFill>
                  <a:schemeClr val="tx1"/>
                </a:solidFill>
                <a:effectLst/>
                <a:latin typeface="Arial" panose="020B0604020202020204" pitchFamily="34" charset="0"/>
              </a:rPr>
              <a:t>Data Preprocessing (IBM Watson Studio)</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	1. </a:t>
            </a:r>
            <a:r>
              <a:rPr kumimoji="0" lang="en-US" altLang="en-US" sz="1800" b="0" i="0" u="none" strike="noStrike" cap="none" normalizeH="0" baseline="0" dirty="0">
                <a:ln>
                  <a:noFill/>
                </a:ln>
                <a:solidFill>
                  <a:schemeClr val="tx1"/>
                </a:solidFill>
                <a:effectLst/>
                <a:latin typeface="Arial" panose="020B0604020202020204" pitchFamily="34" charset="0"/>
              </a:rPr>
              <a:t>Handling missing values</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2. Encoding </a:t>
            </a:r>
            <a:r>
              <a:rPr kumimoji="0" lang="en-US" altLang="en-US" sz="1800" b="0" i="0" u="none" strike="noStrike" cap="none" normalizeH="0" baseline="0" dirty="0">
                <a:ln>
                  <a:noFill/>
                </a:ln>
                <a:solidFill>
                  <a:schemeClr val="tx1"/>
                </a:solidFill>
                <a:effectLst/>
                <a:latin typeface="Arial" panose="020B0604020202020204" pitchFamily="34" charset="0"/>
              </a:rPr>
              <a:t>categorical attributes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3. </a:t>
            </a:r>
            <a:r>
              <a:rPr kumimoji="0" lang="en-US" altLang="en-US" sz="1800" b="0" i="0" u="none" strike="noStrike" cap="none" normalizeH="0" baseline="0" dirty="0">
                <a:ln>
                  <a:noFill/>
                </a:ln>
                <a:solidFill>
                  <a:schemeClr val="tx1"/>
                </a:solidFill>
                <a:effectLst/>
                <a:latin typeface="Arial" panose="020B0604020202020204" pitchFamily="34" charset="0"/>
              </a:rPr>
              <a:t>Feature selection and normalization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Model Training</a:t>
            </a: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1. Multi-class classification model trained in Watson Studio</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2. </a:t>
            </a:r>
            <a:r>
              <a:rPr kumimoji="0" lang="en-US" altLang="en-US" sz="1800" b="0" i="0" u="none" strike="noStrike" cap="none" normalizeH="0" baseline="0" dirty="0">
                <a:ln>
                  <a:noFill/>
                </a:ln>
                <a:solidFill>
                  <a:schemeClr val="tx1"/>
                </a:solidFill>
                <a:effectLst/>
                <a:latin typeface="Arial" panose="020B0604020202020204" pitchFamily="34" charset="0"/>
              </a:rPr>
              <a:t>Hyperparameter tuning for improved accuracy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Model Deployment</a:t>
            </a: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1. Trained model deployed using </a:t>
            </a:r>
            <a:r>
              <a:rPr kumimoji="0" lang="en-US" altLang="en-US" sz="1800" b="1" i="0" u="none" strike="noStrike" cap="none" normalizeH="0" baseline="0" dirty="0">
                <a:ln>
                  <a:noFill/>
                </a:ln>
                <a:solidFill>
                  <a:schemeClr val="tx1"/>
                </a:solidFill>
                <a:effectLst/>
                <a:latin typeface="Arial" panose="020B0604020202020204" pitchFamily="34" charset="0"/>
              </a:rPr>
              <a:t>IBM Watson Machine Learning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Prediction &amp; Output</a:t>
            </a: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1. Applicant data sent via API</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2. </a:t>
            </a:r>
            <a:r>
              <a:rPr kumimoji="0" lang="en-US" altLang="en-US" sz="1800" b="0" i="0" u="none" strike="noStrike" cap="none" normalizeH="0" baseline="0" dirty="0">
                <a:ln>
                  <a:noFill/>
                </a:ln>
                <a:solidFill>
                  <a:schemeClr val="tx1"/>
                </a:solidFill>
                <a:effectLst/>
                <a:latin typeface="Arial" panose="020B0604020202020204" pitchFamily="34" charset="0"/>
              </a:rPr>
              <a:t>Predicted NSAP scheme returned instantly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474866" y="1482520"/>
            <a:ext cx="11029615" cy="4673324"/>
          </a:xfrm>
        </p:spPr>
        <p:txBody>
          <a:bodyPr>
            <a:noAutofit/>
          </a:bodyPr>
          <a:lstStyle/>
          <a:p>
            <a:pPr marL="0" indent="0">
              <a:buNone/>
            </a:pPr>
            <a:r>
              <a:rPr lang="en-US" sz="1800" b="1" dirty="0"/>
              <a:t>1. Algorithm Used</a:t>
            </a:r>
          </a:p>
          <a:p>
            <a:pPr marL="324000" lvl="1" indent="0">
              <a:buNone/>
            </a:pPr>
            <a:r>
              <a:rPr lang="en-US" sz="1800" dirty="0"/>
              <a:t>Decision Tree / Random Forest / Logistic Regression</a:t>
            </a:r>
            <a:br>
              <a:rPr lang="en-US" sz="1800" dirty="0"/>
            </a:br>
            <a:r>
              <a:rPr lang="en-US" sz="1800" dirty="0"/>
              <a:t>(Multi-class classification)</a:t>
            </a:r>
          </a:p>
          <a:p>
            <a:pPr marL="0" indent="0">
              <a:buNone/>
            </a:pPr>
            <a:r>
              <a:rPr lang="en-US" sz="1800" b="1" dirty="0"/>
              <a:t>2.. Why These Algorithms?</a:t>
            </a:r>
          </a:p>
          <a:p>
            <a:pPr marL="0" indent="0">
              <a:buNone/>
            </a:pPr>
            <a:r>
              <a:rPr lang="en-US" sz="1800" b="1" dirty="0"/>
              <a:t>	1. </a:t>
            </a:r>
            <a:r>
              <a:rPr lang="en-US" sz="1800" dirty="0"/>
              <a:t>Handle categorical and numerical data effectively</a:t>
            </a:r>
          </a:p>
          <a:p>
            <a:pPr marL="0" indent="0">
              <a:buNone/>
            </a:pPr>
            <a:r>
              <a:rPr lang="en-US" sz="1800" dirty="0"/>
              <a:t>	2. Interpretable decision-making</a:t>
            </a:r>
          </a:p>
          <a:p>
            <a:pPr marL="0" indent="0">
              <a:buNone/>
            </a:pPr>
            <a:r>
              <a:rPr lang="en-US" sz="1800" dirty="0"/>
              <a:t>	3. Suitable for government and policy-based applications</a:t>
            </a:r>
          </a:p>
          <a:p>
            <a:pPr marL="0" indent="0">
              <a:buNone/>
            </a:pPr>
            <a:r>
              <a:rPr lang="en-US" sz="1800" b="1" dirty="0"/>
              <a:t>3. Training Process</a:t>
            </a:r>
          </a:p>
          <a:p>
            <a:pPr marL="0" indent="0">
              <a:buNone/>
            </a:pPr>
            <a:r>
              <a:rPr lang="en-US" sz="1800" b="1" dirty="0"/>
              <a:t>	1.  </a:t>
            </a:r>
            <a:r>
              <a:rPr lang="en-US" sz="1800" dirty="0"/>
              <a:t>Dataset split into training and testing sets</a:t>
            </a:r>
          </a:p>
          <a:p>
            <a:pPr marL="0" indent="0">
              <a:buNone/>
            </a:pPr>
            <a:r>
              <a:rPr lang="en-US" sz="1800" dirty="0"/>
              <a:t>	2. Model trained using historical NSAP records</a:t>
            </a:r>
          </a:p>
          <a:p>
            <a:pPr marL="0" indent="0">
              <a:buNone/>
            </a:pPr>
            <a:r>
              <a:rPr lang="en-US" sz="1800" dirty="0"/>
              <a:t>	3. Performance optimized using hyperparameter tuning</a:t>
            </a:r>
          </a:p>
          <a:p>
            <a:pPr marL="0" indent="0">
              <a:buNone/>
            </a:pPr>
            <a:r>
              <a:rPr lang="en-US" sz="1800" dirty="0"/>
              <a:t>	4. Evaluated using accuracy and confusion matrix</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88265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9" name="Content Placeholder 8">
            <a:extLst>
              <a:ext uri="{FF2B5EF4-FFF2-40B4-BE49-F238E27FC236}">
                <a16:creationId xmlns:a16="http://schemas.microsoft.com/office/drawing/2014/main" id="{444C204A-85E1-9FFB-AA5C-BD0087CEBF79}"/>
              </a:ext>
            </a:extLst>
          </p:cNvPr>
          <p:cNvPicPr>
            <a:picLocks noGrp="1" noChangeAspect="1"/>
          </p:cNvPicPr>
          <p:nvPr>
            <p:ph idx="1"/>
          </p:nvPr>
        </p:nvPicPr>
        <p:blipFill>
          <a:blip r:embed="rId2"/>
          <a:stretch>
            <a:fillRect/>
          </a:stretch>
        </p:blipFill>
        <p:spPr>
          <a:xfrm>
            <a:off x="581025" y="1396102"/>
            <a:ext cx="11053166" cy="4494335"/>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5E97EC-1264-85C5-6C8B-FC588485EAE7}"/>
              </a:ext>
            </a:extLst>
          </p:cNvPr>
          <p:cNvPicPr>
            <a:picLocks noChangeAspect="1"/>
          </p:cNvPicPr>
          <p:nvPr/>
        </p:nvPicPr>
        <p:blipFill>
          <a:blip r:embed="rId2"/>
          <a:stretch>
            <a:fillRect/>
          </a:stretch>
        </p:blipFill>
        <p:spPr>
          <a:xfrm>
            <a:off x="0" y="632874"/>
            <a:ext cx="12192000" cy="5592251"/>
          </a:xfrm>
          <a:prstGeom prst="rect">
            <a:avLst/>
          </a:prstGeom>
        </p:spPr>
      </p:pic>
    </p:spTree>
    <p:extLst>
      <p:ext uri="{BB962C8B-B14F-4D97-AF65-F5344CB8AC3E}">
        <p14:creationId xmlns:p14="http://schemas.microsoft.com/office/powerpoint/2010/main" val="48760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4E0351-990E-F280-AB12-0EF528A147EA}"/>
              </a:ext>
            </a:extLst>
          </p:cNvPr>
          <p:cNvPicPr>
            <a:picLocks noChangeAspect="1"/>
          </p:cNvPicPr>
          <p:nvPr/>
        </p:nvPicPr>
        <p:blipFill>
          <a:blip r:embed="rId2"/>
          <a:stretch>
            <a:fillRect/>
          </a:stretch>
        </p:blipFill>
        <p:spPr>
          <a:xfrm>
            <a:off x="0" y="796923"/>
            <a:ext cx="12190765" cy="5476286"/>
          </a:xfrm>
          <a:prstGeom prst="rect">
            <a:avLst/>
          </a:prstGeom>
        </p:spPr>
      </p:pic>
    </p:spTree>
    <p:extLst>
      <p:ext uri="{BB962C8B-B14F-4D97-AF65-F5344CB8AC3E}">
        <p14:creationId xmlns:p14="http://schemas.microsoft.com/office/powerpoint/2010/main" val="1142104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B5497F-A0D8-16FF-ABDB-A0B3F12C5755}"/>
              </a:ext>
            </a:extLst>
          </p:cNvPr>
          <p:cNvPicPr>
            <a:picLocks noChangeAspect="1"/>
          </p:cNvPicPr>
          <p:nvPr/>
        </p:nvPicPr>
        <p:blipFill>
          <a:blip r:embed="rId2"/>
          <a:stretch>
            <a:fillRect/>
          </a:stretch>
        </p:blipFill>
        <p:spPr>
          <a:xfrm>
            <a:off x="-10633" y="607312"/>
            <a:ext cx="12192000" cy="5643375"/>
          </a:xfrm>
          <a:prstGeom prst="rect">
            <a:avLst/>
          </a:prstGeom>
        </p:spPr>
      </p:pic>
    </p:spTree>
    <p:extLst>
      <p:ext uri="{BB962C8B-B14F-4D97-AF65-F5344CB8AC3E}">
        <p14:creationId xmlns:p14="http://schemas.microsoft.com/office/powerpoint/2010/main" val="302129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09DC2B-DE28-1813-B8BA-0BC9F13B771A}"/>
              </a:ext>
            </a:extLst>
          </p:cNvPr>
          <p:cNvPicPr>
            <a:picLocks noChangeAspect="1"/>
          </p:cNvPicPr>
          <p:nvPr/>
        </p:nvPicPr>
        <p:blipFill>
          <a:blip r:embed="rId2"/>
          <a:stretch>
            <a:fillRect/>
          </a:stretch>
        </p:blipFill>
        <p:spPr>
          <a:xfrm>
            <a:off x="0" y="827786"/>
            <a:ext cx="12192000" cy="5202428"/>
          </a:xfrm>
          <a:prstGeom prst="rect">
            <a:avLst/>
          </a:prstGeom>
        </p:spPr>
      </p:pic>
    </p:spTree>
    <p:extLst>
      <p:ext uri="{BB962C8B-B14F-4D97-AF65-F5344CB8AC3E}">
        <p14:creationId xmlns:p14="http://schemas.microsoft.com/office/powerpoint/2010/main" val="207510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949739-4B08-177C-14DF-9F0CC0FE0A68}"/>
              </a:ext>
            </a:extLst>
          </p:cNvPr>
          <p:cNvPicPr>
            <a:picLocks noChangeAspect="1"/>
          </p:cNvPicPr>
          <p:nvPr/>
        </p:nvPicPr>
        <p:blipFill>
          <a:blip r:embed="rId2"/>
          <a:stretch>
            <a:fillRect/>
          </a:stretch>
        </p:blipFill>
        <p:spPr>
          <a:xfrm>
            <a:off x="0" y="212652"/>
            <a:ext cx="12192000" cy="6122840"/>
          </a:xfrm>
          <a:prstGeom prst="rect">
            <a:avLst/>
          </a:prstGeom>
        </p:spPr>
      </p:pic>
    </p:spTree>
    <p:extLst>
      <p:ext uri="{BB962C8B-B14F-4D97-AF65-F5344CB8AC3E}">
        <p14:creationId xmlns:p14="http://schemas.microsoft.com/office/powerpoint/2010/main" val="41368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053030"/>
            <a:ext cx="11029616" cy="530296"/>
          </a:xfrm>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719416" y="702156"/>
            <a:ext cx="11029615" cy="4673324"/>
          </a:xfrm>
        </p:spPr>
        <p:txBody>
          <a:bodyPr>
            <a:normAutofit/>
          </a:bodyPr>
          <a:lstStyle/>
          <a:p>
            <a:pPr marL="0" indent="0" algn="ctr">
              <a:buNone/>
            </a:pPr>
            <a:r>
              <a:rPr lang="en-US" sz="2000" dirty="0"/>
              <a:t>This project successfully demonstrates a cloud-based artificial intelligence solution for social welfare eligibility prediction under the National Social Assistance Programme. By leveraging machine learning techniques, the system automates complex eligibility determination processes that are traditionally handled manually. The integration of IBM Cloud services provides a secure, scalable, and enterprise-grade platform for model training, deployment, and inference. Overall, the system enhances efficiency, accuracy, and transparency in government service delivery. The project highlights the potential of IBM Cloud and AI technologies to create impactful, scalable solutions that address real-world social challenges and improve public welfare outcomes.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lgn="ctr">
              <a:buNone/>
            </a:pPr>
            <a:r>
              <a:rPr lang="en-US" sz="2000" dirty="0"/>
              <a:t>In the future, the proposed system can be enhanced by integrating it with real-time government databases such as Aadhaar-linked welfare records and state-level pension portals to enable live data validation and instant eligibility assessment. The prediction accuracy and robustness of the system can be further improved by incorporating advanced artificial intelligence techniques such as Gradient Boosting algorithms and Deep Learning models. The solution can be scaled on IBM Cloud to support nationwide deployment and extended to include multiple social welfare schemes beyond NSAP, enabling a unified welfare management platform. Additionally, the development of citizen-facing web and mobile applications can allow applicants and government officials to interact with the system more efficiently. To ensure inclusivity and accessibility, multilingual support can be implemented so that beneficiaries from diverse linguistic backgrounds can easily access and understand the services provided by the system.</a:t>
            </a: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56282-C1E4-06E7-A125-26E87DE4AC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B96982-1929-2E84-BAA2-12483FEFB632}"/>
              </a:ext>
            </a:extLst>
          </p:cNvPr>
          <p:cNvSpPr>
            <a:spLocks noGrp="1"/>
          </p:cNvSpPr>
          <p:nvPr>
            <p:ph type="title"/>
          </p:nvPr>
        </p:nvSpPr>
        <p:spPr>
          <a:xfrm>
            <a:off x="581192" y="584487"/>
            <a:ext cx="11029616" cy="530296"/>
          </a:xfrm>
        </p:spPr>
        <p:txBody>
          <a:bodyPr>
            <a:normAutofit/>
          </a:bodyPr>
          <a:lstStyle/>
          <a:p>
            <a:r>
              <a:rPr lang="en-US" dirty="0">
                <a:solidFill>
                  <a:schemeClr val="accent1"/>
                </a:solidFill>
              </a:rPr>
              <a:t>Certificates</a:t>
            </a:r>
          </a:p>
        </p:txBody>
      </p:sp>
      <p:pic>
        <p:nvPicPr>
          <p:cNvPr id="7" name="Picture 6">
            <a:extLst>
              <a:ext uri="{FF2B5EF4-FFF2-40B4-BE49-F238E27FC236}">
                <a16:creationId xmlns:a16="http://schemas.microsoft.com/office/drawing/2014/main" id="{57732DFE-1D72-A249-16BF-3C3BEB136356}"/>
              </a:ext>
            </a:extLst>
          </p:cNvPr>
          <p:cNvPicPr>
            <a:picLocks noChangeAspect="1"/>
          </p:cNvPicPr>
          <p:nvPr/>
        </p:nvPicPr>
        <p:blipFill>
          <a:blip r:embed="rId3"/>
          <a:stretch>
            <a:fillRect/>
          </a:stretch>
        </p:blipFill>
        <p:spPr>
          <a:xfrm>
            <a:off x="1104310" y="1114783"/>
            <a:ext cx="3850462" cy="2391116"/>
          </a:xfrm>
          <a:prstGeom prst="rect">
            <a:avLst/>
          </a:prstGeom>
        </p:spPr>
      </p:pic>
      <p:pic>
        <p:nvPicPr>
          <p:cNvPr id="9" name="Picture 8">
            <a:extLst>
              <a:ext uri="{FF2B5EF4-FFF2-40B4-BE49-F238E27FC236}">
                <a16:creationId xmlns:a16="http://schemas.microsoft.com/office/drawing/2014/main" id="{C635A3D3-3378-37EB-7975-0DED6313D683}"/>
              </a:ext>
            </a:extLst>
          </p:cNvPr>
          <p:cNvPicPr>
            <a:picLocks noChangeAspect="1"/>
          </p:cNvPicPr>
          <p:nvPr/>
        </p:nvPicPr>
        <p:blipFill>
          <a:blip r:embed="rId4"/>
          <a:stretch>
            <a:fillRect/>
          </a:stretch>
        </p:blipFill>
        <p:spPr>
          <a:xfrm>
            <a:off x="6935612" y="988297"/>
            <a:ext cx="3962760" cy="2517602"/>
          </a:xfrm>
          <a:prstGeom prst="rect">
            <a:avLst/>
          </a:prstGeom>
        </p:spPr>
      </p:pic>
      <p:pic>
        <p:nvPicPr>
          <p:cNvPr id="11" name="Picture 10">
            <a:extLst>
              <a:ext uri="{FF2B5EF4-FFF2-40B4-BE49-F238E27FC236}">
                <a16:creationId xmlns:a16="http://schemas.microsoft.com/office/drawing/2014/main" id="{710BF3BE-D0BB-22B0-55E3-94801E55E088}"/>
              </a:ext>
            </a:extLst>
          </p:cNvPr>
          <p:cNvPicPr>
            <a:picLocks noChangeAspect="1"/>
          </p:cNvPicPr>
          <p:nvPr/>
        </p:nvPicPr>
        <p:blipFill>
          <a:blip r:embed="rId5"/>
          <a:stretch>
            <a:fillRect/>
          </a:stretch>
        </p:blipFill>
        <p:spPr>
          <a:xfrm>
            <a:off x="1055535" y="3732651"/>
            <a:ext cx="4073852" cy="2474910"/>
          </a:xfrm>
          <a:prstGeom prst="rect">
            <a:avLst/>
          </a:prstGeom>
        </p:spPr>
      </p:pic>
      <p:pic>
        <p:nvPicPr>
          <p:cNvPr id="13" name="Picture 12">
            <a:extLst>
              <a:ext uri="{FF2B5EF4-FFF2-40B4-BE49-F238E27FC236}">
                <a16:creationId xmlns:a16="http://schemas.microsoft.com/office/drawing/2014/main" id="{8F348CFB-5CDB-F0FB-24D0-EF144602C2F4}"/>
              </a:ext>
            </a:extLst>
          </p:cNvPr>
          <p:cNvPicPr>
            <a:picLocks noChangeAspect="1"/>
          </p:cNvPicPr>
          <p:nvPr/>
        </p:nvPicPr>
        <p:blipFill>
          <a:blip r:embed="rId6"/>
          <a:stretch>
            <a:fillRect/>
          </a:stretch>
        </p:blipFill>
        <p:spPr>
          <a:xfrm>
            <a:off x="6935613" y="3817087"/>
            <a:ext cx="4220584" cy="2598687"/>
          </a:xfrm>
          <a:prstGeom prst="rect">
            <a:avLst/>
          </a:prstGeom>
        </p:spPr>
      </p:pic>
    </p:spTree>
    <p:extLst>
      <p:ext uri="{BB962C8B-B14F-4D97-AF65-F5344CB8AC3E}">
        <p14:creationId xmlns:p14="http://schemas.microsoft.com/office/powerpoint/2010/main" val="2321308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8D50-8695-DEC5-0736-74E0DC75A684}"/>
              </a:ext>
            </a:extLst>
          </p:cNvPr>
          <p:cNvSpPr>
            <a:spLocks noGrp="1"/>
          </p:cNvSpPr>
          <p:nvPr>
            <p:ph type="title"/>
          </p:nvPr>
        </p:nvSpPr>
        <p:spPr/>
        <p:txBody>
          <a:bodyPr/>
          <a:lstStyle/>
          <a:p>
            <a:r>
              <a:rPr lang="en-US" dirty="0" err="1">
                <a:solidFill>
                  <a:schemeClr val="accent1"/>
                </a:solidFill>
              </a:rPr>
              <a:t>Github</a:t>
            </a:r>
            <a:endParaRPr lang="en-US" dirty="0">
              <a:solidFill>
                <a:schemeClr val="accent1"/>
              </a:solidFill>
            </a:endParaRPr>
          </a:p>
        </p:txBody>
      </p:sp>
      <p:sp>
        <p:nvSpPr>
          <p:cNvPr id="3" name="Content Placeholder 2">
            <a:extLst>
              <a:ext uri="{FF2B5EF4-FFF2-40B4-BE49-F238E27FC236}">
                <a16:creationId xmlns:a16="http://schemas.microsoft.com/office/drawing/2014/main" id="{A69B9EE6-445C-580C-193E-807AA28C7C2C}"/>
              </a:ext>
            </a:extLst>
          </p:cNvPr>
          <p:cNvSpPr>
            <a:spLocks noGrp="1"/>
          </p:cNvSpPr>
          <p:nvPr>
            <p:ph idx="1"/>
          </p:nvPr>
        </p:nvSpPr>
        <p:spPr/>
        <p:txBody>
          <a:bodyPr>
            <a:normAutofit/>
          </a:bodyPr>
          <a:lstStyle/>
          <a:p>
            <a:r>
              <a:rPr lang="en-US" sz="1800" b="1" dirty="0">
                <a:latin typeface="Arial" panose="020B0604020202020204" pitchFamily="34" charset="0"/>
                <a:cs typeface="Arial" panose="020B0604020202020204" pitchFamily="34" charset="0"/>
              </a:rPr>
              <a:t>https://github.com/ShubhamS2005/IBM_Edunet_Project</a:t>
            </a:r>
          </a:p>
        </p:txBody>
      </p:sp>
    </p:spTree>
    <p:extLst>
      <p:ext uri="{BB962C8B-B14F-4D97-AF65-F5344CB8AC3E}">
        <p14:creationId xmlns:p14="http://schemas.microsoft.com/office/powerpoint/2010/main" val="4279169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10</TotalTime>
  <Words>811</Words>
  <Application>Microsoft Office PowerPoint</Application>
  <PresentationFormat>Widescreen</PresentationFormat>
  <Paragraphs>71</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Franklin Gothic Book</vt:lpstr>
      <vt:lpstr>Franklin Gothic Demi</vt:lpstr>
      <vt:lpstr>Wingdings 2</vt:lpstr>
      <vt:lpstr>DividendVTI</vt:lpstr>
      <vt:lpstr>Predicting Eligibility for Social Welfare Schemes using Machine Learning</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PowerPoint Presentation</vt:lpstr>
      <vt:lpstr>PowerPoint Presentation</vt:lpstr>
      <vt:lpstr>Conclusion</vt:lpstr>
      <vt:lpstr>PowerPoint Presentation</vt:lpstr>
      <vt:lpstr>Certificates</vt:lpstr>
      <vt:lpstr>Github</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shubham srivastava</cp:lastModifiedBy>
  <cp:revision>33</cp:revision>
  <dcterms:created xsi:type="dcterms:W3CDTF">2021-05-26T16:50:10Z</dcterms:created>
  <dcterms:modified xsi:type="dcterms:W3CDTF">2026-02-07T07:05:44Z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